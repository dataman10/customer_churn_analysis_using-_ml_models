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Customer Churn Analysis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advanced ML models to identify high-risk customers and deliver actionable insights for improving retention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66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Challenge of Customer Churn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3117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Customer Churn?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808571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churn occurs when clients discontinue their relationship with a business. In banking, this represents lost revenue, reduced market share, and increased acquisition costs.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19005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churn patterns is critical for sustainable growth and profitability.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7311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It Matters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3383280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Acquiring new customers costs 5-25x more than retaining existing ones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55128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Early identification enables proactive intervention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35638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insights improve retention strategies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616148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Reduces revenue loss and strengthens customer relationships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596146"/>
            <a:ext cx="5419725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Overview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666" y="1707118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666" y="2045137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58666" y="2214443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Collection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666" y="2683192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Bank customer dataset with comprehensive behavioral and demographic features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23547" y="1707118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547" y="2045137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23547" y="2214443"/>
            <a:ext cx="29384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Preprocessing &amp; EDA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23547" y="2683192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cleaning, feature engineering, and exploratory analysis to uncover patterns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666" y="3756065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666" y="4094083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666" y="4263390"/>
            <a:ext cx="2732842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Development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666" y="4732139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Training multiple ML algorithms to predict churn probability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23547" y="3756065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547" y="4094083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23547" y="4263390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Comparison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23547" y="4732139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Evaluating performance using ROC-AUC and other key metrics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666" y="5805011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666" y="6143030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58666" y="6312337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Analysis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8666" y="6781086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Identifying the most influential factors driving customer churn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23547" y="5805011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23547" y="6143030"/>
            <a:ext cx="6448187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423547" y="6312337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Actionable Insights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23547" y="6781086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Delivering recommendations for targeted retention strategies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83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Preprocessing &amp; Exploration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66048"/>
            <a:ext cx="3664744" cy="2758559"/>
          </a:xfrm>
          <a:prstGeom prst="roundRect">
            <a:avLst>
              <a:gd name="adj" fmla="val 740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383280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Handled missing values, outliers, and inconsistencies to ensure clean, reliable data for modeling.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66048"/>
            <a:ext cx="3664863" cy="2758559"/>
          </a:xfrm>
          <a:prstGeom prst="roundRect">
            <a:avLst>
              <a:gd name="adj" fmla="val 740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892862"/>
            <a:ext cx="29302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383280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new variables and transformed existing features to capture meaningful patterns in customer behavior.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669852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878235"/>
            <a:ext cx="3032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3686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Uncovered key trends, correlations, and distributions that inform model development and business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21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 Models Deployed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76657"/>
            <a:ext cx="212276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712131"/>
            <a:ext cx="212276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Baseline model providing interpretable probability estimates for churn prediction.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63978" y="2776657"/>
            <a:ext cx="212276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63978" y="3712131"/>
            <a:ext cx="212276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method capturing complex non-linear relationships in customer data.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647765" y="2776657"/>
            <a:ext cx="22038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647765" y="3712131"/>
            <a:ext cx="22038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algorithm optimizing prediction accuracy through iterative learning.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34877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model was trained, validated, and fine-tuned using cross-validation to ensure robust performance across different customer segments.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209" y="566023"/>
            <a:ext cx="7703582" cy="1286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Performance Comparison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0209" y="2469356"/>
            <a:ext cx="3748921" cy="2833568"/>
          </a:xfrm>
          <a:prstGeom prst="roundRect">
            <a:avLst>
              <a:gd name="adj" fmla="val 3872"/>
            </a:avLst>
          </a:prstGeom>
          <a:solidFill>
            <a:srgbClr val="FAFFFA"/>
          </a:solidFill>
          <a:ln/>
        </p:spPr>
      </p:sp>
      <p:sp>
        <p:nvSpPr>
          <p:cNvPr id="5" name="Shape 2"/>
          <p:cNvSpPr/>
          <p:nvPr/>
        </p:nvSpPr>
        <p:spPr>
          <a:xfrm>
            <a:off x="720209" y="2446496"/>
            <a:ext cx="3748921" cy="91440"/>
          </a:xfrm>
          <a:prstGeom prst="roundRect">
            <a:avLst>
              <a:gd name="adj" fmla="val 202551"/>
            </a:avLst>
          </a:prstGeom>
          <a:solidFill>
            <a:srgbClr val="438951"/>
          </a:solidFill>
          <a:ln/>
        </p:spPr>
      </p:sp>
      <p:sp>
        <p:nvSpPr>
          <p:cNvPr id="6" name="Shape 3"/>
          <p:cNvSpPr/>
          <p:nvPr/>
        </p:nvSpPr>
        <p:spPr>
          <a:xfrm>
            <a:off x="2285940" y="2160746"/>
            <a:ext cx="617339" cy="617339"/>
          </a:xfrm>
          <a:prstGeom prst="roundRect">
            <a:avLst>
              <a:gd name="adj" fmla="val 148120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2471083" y="2315051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48809" y="2983825"/>
            <a:ext cx="2572345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ROC-AUC Analysis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8809" y="3428881"/>
            <a:ext cx="3291721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evaluated using Receiver Operating Characteristic curves and Area Under Curve metrics to measure classification performance.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74870" y="2469356"/>
            <a:ext cx="3748921" cy="2833568"/>
          </a:xfrm>
          <a:prstGeom prst="roundRect">
            <a:avLst>
              <a:gd name="adj" fmla="val 3872"/>
            </a:avLst>
          </a:prstGeom>
          <a:solidFill>
            <a:srgbClr val="FAFF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74870" y="2446496"/>
            <a:ext cx="3748921" cy="91440"/>
          </a:xfrm>
          <a:prstGeom prst="roundRect">
            <a:avLst>
              <a:gd name="adj" fmla="val 202551"/>
            </a:avLst>
          </a:prstGeom>
          <a:solidFill>
            <a:srgbClr val="438951"/>
          </a:solidFill>
          <a:ln/>
        </p:spPr>
      </p:sp>
      <p:sp>
        <p:nvSpPr>
          <p:cNvPr id="12" name="Shape 9"/>
          <p:cNvSpPr/>
          <p:nvPr/>
        </p:nvSpPr>
        <p:spPr>
          <a:xfrm>
            <a:off x="6240601" y="2160746"/>
            <a:ext cx="617339" cy="617339"/>
          </a:xfrm>
          <a:prstGeom prst="roundRect">
            <a:avLst>
              <a:gd name="adj" fmla="val 148120"/>
            </a:avLst>
          </a:prstGeom>
          <a:solidFill>
            <a:srgbClr val="4389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25744" y="2315051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903470" y="2983825"/>
            <a:ext cx="2572345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Precision &amp; Recall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03470" y="3428881"/>
            <a:ext cx="3291721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Balanced evaluation of true positive rates and false positive rates to optimize business outcomes.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0209" y="5817275"/>
            <a:ext cx="7703582" cy="1846302"/>
          </a:xfrm>
          <a:prstGeom prst="roundRect">
            <a:avLst>
              <a:gd name="adj" fmla="val 5943"/>
            </a:avLst>
          </a:prstGeom>
          <a:solidFill>
            <a:srgbClr val="FAFF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20209" y="5794415"/>
            <a:ext cx="7703582" cy="91440"/>
          </a:xfrm>
          <a:prstGeom prst="roundRect">
            <a:avLst>
              <a:gd name="adj" fmla="val 202551"/>
            </a:avLst>
          </a:prstGeom>
          <a:solidFill>
            <a:srgbClr val="438951"/>
          </a:solidFill>
          <a:ln/>
        </p:spPr>
      </p:sp>
      <p:sp>
        <p:nvSpPr>
          <p:cNvPr id="18" name="Shape 15"/>
          <p:cNvSpPr/>
          <p:nvPr/>
        </p:nvSpPr>
        <p:spPr>
          <a:xfrm>
            <a:off x="4263330" y="5508665"/>
            <a:ext cx="617339" cy="617339"/>
          </a:xfrm>
          <a:prstGeom prst="roundRect">
            <a:avLst>
              <a:gd name="adj" fmla="val 148120"/>
            </a:avLst>
          </a:prstGeom>
          <a:solidFill>
            <a:srgbClr val="438951"/>
          </a:solidFill>
          <a:ln/>
        </p:spPr>
      </p:sp>
      <p:sp>
        <p:nvSpPr>
          <p:cNvPr id="19" name="Text 16"/>
          <p:cNvSpPr/>
          <p:nvPr/>
        </p:nvSpPr>
        <p:spPr>
          <a:xfrm>
            <a:off x="4448473" y="5662970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48809" y="6331744"/>
            <a:ext cx="2695218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Best Model Selection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48809" y="6776799"/>
            <a:ext cx="7246382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Gradient Boosting emerged as the top performer, achieving superior accuracy and generalization capability.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7664"/>
            <a:ext cx="8033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 Driving Churn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Customer 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47304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 significantly impacts churn likelihood, with certain demographics showing higher retention rates.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Account Balance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414730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Lower balances correlate with increased churn risk, indicating financial engagement levels.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Product Usage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14730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Number of products held and transaction frequency are strong predictors of customer loyalty.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Geography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414730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Regional differences reveal varying churn patterns across different markets and locations.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5795605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Importance Analysis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93" y="1340882"/>
            <a:ext cx="7961709" cy="7961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06232" y="1321237"/>
            <a:ext cx="2366486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Predictors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906232" y="1774865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analysis identified the most influential factors: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06232" y="2169200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Account tenure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Length of customer relationship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06232" y="2476738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 frequency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Engagement level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06232" y="2784277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complaints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Service satisfaction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06232" y="3091815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Credit score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Financial health indicator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8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999" y="3276957"/>
            <a:ext cx="11093172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Actionable Insights &amp; Recommendations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99" y="4270772"/>
            <a:ext cx="4375428" cy="8595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6788" y="5345073"/>
            <a:ext cx="3161348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Targeted Interventions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66788" y="5809655"/>
            <a:ext cx="3945850" cy="103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retention efforts on high-risk customer segments identified by the model.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427" y="4270772"/>
            <a:ext cx="4375428" cy="8595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2215" y="5345073"/>
            <a:ext cx="353318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Personalized Engagement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342215" y="5809655"/>
            <a:ext cx="3945850" cy="103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Tailor communication and offers based on individual churn probability scores.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854" y="4270772"/>
            <a:ext cx="4375428" cy="859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643" y="5345073"/>
            <a:ext cx="303823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Early Warning System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7643" y="5809655"/>
            <a:ext cx="3945850" cy="103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real-time monitoring to detect churn signals before customers leave.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51999" y="7297698"/>
            <a:ext cx="13126402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insights enable proactive retention strategies that reduce churn rates and maximize customer lifetime value.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591" y="542449"/>
            <a:ext cx="5790367" cy="47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Deliverables &amp; Impact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34591" y="1248966"/>
            <a:ext cx="8074819" cy="1506379"/>
          </a:xfrm>
          <a:prstGeom prst="roundRect">
            <a:avLst>
              <a:gd name="adj" fmla="val 9127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687348" y="1401723"/>
            <a:ext cx="458272" cy="458272"/>
          </a:xfrm>
          <a:prstGeom prst="roundRect">
            <a:avLst>
              <a:gd name="adj" fmla="val 19951220"/>
            </a:avLst>
          </a:prstGeom>
          <a:solidFill>
            <a:srgbClr val="43895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16" y="1527691"/>
            <a:ext cx="206216" cy="206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7348" y="2012752"/>
            <a:ext cx="196072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Trained ML Pipeline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87348" y="2343031"/>
            <a:ext cx="776930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Production-ready model saved as 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best_churn_pipeline.pkl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deployment and real-time predictions.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34591" y="2908102"/>
            <a:ext cx="8074819" cy="1491139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</p:sp>
      <p:sp>
        <p:nvSpPr>
          <p:cNvPr id="10" name="Shape 6"/>
          <p:cNvSpPr/>
          <p:nvPr/>
        </p:nvSpPr>
        <p:spPr>
          <a:xfrm>
            <a:off x="687348" y="3060859"/>
            <a:ext cx="458272" cy="458272"/>
          </a:xfrm>
          <a:prstGeom prst="roundRect">
            <a:avLst>
              <a:gd name="adj" fmla="val 19951220"/>
            </a:avLst>
          </a:prstGeom>
          <a:solidFill>
            <a:srgbClr val="4389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316" y="3186827"/>
            <a:ext cx="206216" cy="206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7348" y="3671888"/>
            <a:ext cx="306812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Comprehensive Documentation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87348" y="4002167"/>
            <a:ext cx="7769304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Detailed project documentation covering methodology, findings, and implementation guidelines.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34591" y="4551998"/>
            <a:ext cx="8074819" cy="1491139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</p:sp>
      <p:sp>
        <p:nvSpPr>
          <p:cNvPr id="15" name="Shape 10"/>
          <p:cNvSpPr/>
          <p:nvPr/>
        </p:nvSpPr>
        <p:spPr>
          <a:xfrm>
            <a:off x="687348" y="4704755"/>
            <a:ext cx="458272" cy="458272"/>
          </a:xfrm>
          <a:prstGeom prst="roundRect">
            <a:avLst>
              <a:gd name="adj" fmla="val 19951220"/>
            </a:avLst>
          </a:prstGeom>
          <a:solidFill>
            <a:srgbClr val="4389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316" y="4830723"/>
            <a:ext cx="206216" cy="206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7348" y="5315783"/>
            <a:ext cx="190952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87348" y="5646063"/>
            <a:ext cx="7769304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analysis workflow with code, visualizations, and reproducible results.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4591" y="6195893"/>
            <a:ext cx="8074819" cy="1491139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687348" y="6348651"/>
            <a:ext cx="458272" cy="458272"/>
          </a:xfrm>
          <a:prstGeom prst="roundRect">
            <a:avLst>
              <a:gd name="adj" fmla="val 19951220"/>
            </a:avLst>
          </a:prstGeom>
          <a:solidFill>
            <a:srgbClr val="43895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316" y="6474619"/>
            <a:ext cx="206216" cy="206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7348" y="6959679"/>
            <a:ext cx="190952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87348" y="7289959"/>
            <a:ext cx="7769304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Reduced churn rates, improved retention ROI, and data-driven decision-making capabilities.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2025-12-16T13:19:46Z</dcterms:created>
  <dcterms:modified xsi:type="dcterms:W3CDTF">2025-12-16T13:19:46Z</dcterms:modified>
</cp:coreProperties>
</file>